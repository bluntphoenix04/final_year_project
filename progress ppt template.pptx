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.xml" ContentType="application/inkml+xml"/>
  <Override PartName="/ppt/notesSlides/notesSlide12.xml" ContentType="application/vnd.openxmlformats-officedocument.presentationml.notesSlide+xml"/>
  <Override PartName="/ppt/ink/ink2.xml" ContentType="application/inkml+xml"/>
  <Override PartName="/ppt/notesSlides/notesSlide13.xml" ContentType="application/vnd.openxmlformats-officedocument.presentationml.notesSlide+xml"/>
  <Override PartName="/ppt/ink/ink3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515" r:id="rId2"/>
    <p:sldId id="516" r:id="rId3"/>
    <p:sldId id="517" r:id="rId4"/>
    <p:sldId id="518" r:id="rId5"/>
    <p:sldId id="519" r:id="rId6"/>
    <p:sldId id="522" r:id="rId7"/>
    <p:sldId id="512" r:id="rId8"/>
    <p:sldId id="513" r:id="rId9"/>
    <p:sldId id="520" r:id="rId10"/>
    <p:sldId id="521" r:id="rId11"/>
    <p:sldId id="505" r:id="rId12"/>
    <p:sldId id="503" r:id="rId13"/>
    <p:sldId id="507" r:id="rId14"/>
    <p:sldId id="514" r:id="rId15"/>
    <p:sldId id="504" r:id="rId16"/>
    <p:sldId id="506" r:id="rId17"/>
    <p:sldId id="269" r:id="rId18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393" autoAdjust="0"/>
    <p:restoredTop sz="94681"/>
  </p:normalViewPr>
  <p:slideViewPr>
    <p:cSldViewPr>
      <p:cViewPr varScale="1">
        <p:scale>
          <a:sx n="84" d="100"/>
          <a:sy n="84" d="100"/>
        </p:scale>
        <p:origin x="845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49:54.47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299 638 24575,'1'-13'0,"2"1"0,-1-1 0,2 1 0,0-1 0,0 1 0,1 0 0,0 0 0,1 1 0,12-18 0,-7 10 0,15-34 0,-25 51 0,-1 0 0,1 0 0,-1 1 0,1-1 0,-1 0 0,1 0 0,-1 0 0,0 0 0,0 0 0,0 0 0,-1-3 0,1 4 0,0 1 0,0-1 0,0 1 0,-1-1 0,1 1 0,0-1 0,-1 0 0,1 1 0,0-1 0,-1 1 0,1 0 0,-1-1 0,1 1 0,0-1 0,-1 1 0,0 0 0,1-1 0,-1 1 0,1 0 0,-1-1 0,1 1 0,-1 0 0,-1-1 0,0 1 0,-1 0 0,0 0 0,1 0 0,-1 1 0,0-1 0,1 1 0,-1-1 0,0 1 0,1 0 0,-1 0 0,1 0 0,-1 0 0,1 0 0,-4 3 0,-22 16 0,-46 41 0,-9 7 0,-17 16 0,87-77 0,6-10 0,7 1 0,-1 1 0,1 0 0,0 0 0,0 0 0,0-1 0,0 1 0,0 0 0,1 0 0,-1 0 0,0 0 0,0-1 0,1 1 0,-1 0 0,1 0 0,-1 0 0,1 0 0,-1 0 0,1 0 0,1-1 0,17-28 0,0 0 0,-2-1 0,-2-1 0,14-39 0,-27 67 0,-1-1 0,0 1 0,0-1 0,0 1 0,0-1 0,-1 0 0,0 1 0,0-9 0,0 11 0,-1 0 0,1 0 0,-1 1 0,0-1 0,0 0 0,1 1 0,-1-1 0,0 0 0,0 1 0,-1-1 0,1 1 0,0 0 0,0-1 0,-1 1 0,1 0 0,-1 0 0,1 0 0,-1 0 0,1 0 0,-1 0 0,0 0 0,1 0 0,-1 1 0,-2-2 0,1 2 0,0-1 0,1-1 0,-1 1 0,1 0 0,-1-1 0,1 1 0,0-1 0,0 0 0,0 0 0,0 0 0,0 0 0,0 0 0,0 0 0,1 0 0,-1-1 0,1 1 0,-3-5 0,2 3 0,0 0 0,0 0 0,-1 1 0,1 0 0,-1-1 0,-5-4 0,-15-3 0,21 11 0,1 0 0,0-1 0,0 1 0,0 0 0,-1-1 0,1 1 0,0-1 0,0 1 0,0-1 0,0 1 0,0-1 0,0 0 0,0 1 0,0-1 0,0 0 0,0 0 0,0 0 0,1 0 0,-1 0 0,0 0 0,0 0 0,1 0 0,-1 0 0,1 0 0,-1 0 0,1 0 0,0-1 0,-1 1 0,1 0 0,0 0 0,0 0 0,0-3 0,-1 0 0,0 1 0,1-1 0,0 0 0,0 0 0,0 0 0,1 1 0,-1-1 0,1 0 0,0 0 0,0 1 0,0-1 0,0 1 0,1-1 0,-1 1 0,1-1 0,0 1 0,0 0 0,0 0 0,1 0 0,-1 0 0,1 0 0,0 0 0,-1 1 0,1-1 0,0 1 0,0 0 0,1 0 0,-1 0 0,0 0 0,1 1 0,-1-1 0,1 1 0,0 0 0,-1 0 0,1 0 0,0 1 0,0-1 0,-1 1 0,1 0 0,0 0 0,0 0 0,0 0 0,-1 1 0,8 1 0,4 4 0,0 0 0,0 1 0,-1 0 0,25 17 0,13 7 0,-36-22 0,0-2 0,0 0 0,1-1 0,0-1 0,0-1 0,27 4 0,-39-7 0,0 0 0,0-1 0,0 0 0,-1 0 0,1 0 0,0-1 0,0 0 0,0 0 0,-1 0 0,1 0 0,0-1 0,-1 1 0,1-1 0,-1 0 0,0-1 0,1 1 0,-1-1 0,0 0 0,-1 0 0,1 0 0,0 0 0,-1-1 0,0 0 0,0 1 0,0-1 0,0 0 0,-1-1 0,4-5 0,2-15 0,-5 15 0,1 0 0,-1 0 0,2 0 0,7-13 0,-11 22 0,-1 0 0,1-1 0,0 1 0,0 0 0,0 0 0,-1 0 0,1 0 0,1 0 0,-1 0 0,0 0 0,0 1 0,0-1 0,0 0 0,0 1 0,1-1 0,-1 0 0,0 1 0,1 0 0,-1-1 0,0 1 0,1 0 0,-1-1 0,0 1 0,1 0 0,-1 0 0,1 0 0,-1 0 0,0 1 0,1-1 0,-1 0 0,1 1 0,-1-1 0,0 0 0,0 1 0,1 0 0,-1-1 0,0 1 0,0 0 0,2 1 0,2 3 0,-1-1 0,-1 1 0,1 0 0,-1 1 0,0-1 0,0 0 0,0 1 0,-1 0 0,1-1 0,-2 1 0,1 0 0,1 7 0,10 26 0,-9-31 0,1 0 0,0 0 0,0-1 0,1 0 0,0 0 0,1 0 0,-1 0 0,1-1 0,1-1 0,-1 1 0,1-1 0,12 7 0,-7-6 0,-1 0 0,1-1 0,0 0 0,0-1 0,0-1 0,1 0 0,24 2 0,-34-5 0,0 0 0,0 0 0,0-1 0,0 0 0,0 0 0,-1 0 0,1 0 0,0 0 0,0-1 0,-1 0 0,1 0 0,-1 0 0,5-3 0,43-41 0,-9 8 0,9 4 0,2 3 0,1 2 0,66-25 0,-98 46 0,1 2 0,0 1 0,0 0 0,0 2 0,43-1 0,26-3 0,-55 3 0,37 2 0,11-1 0,-73 0 0,-15-2 0,-21-2 0,-2 3 0,0 2 0,-1 1 0,1 1 0,0 1 0,0 1 0,0 2 0,0 0 0,1 2 0,-1 0 0,1 2 0,-41 19 0,61-24 0,-1 0 0,1-1 0,-1 1 0,0-1 0,0 0 0,0-1 0,-1 0 0,1 0 0,0 0 0,0-1 0,0 1 0,-1-2 0,1 1 0,0-1 0,0 0 0,-1 0 0,1 0 0,0-1 0,0 0 0,0 0 0,1-1 0,-1 1 0,1-1 0,-1-1 0,1 1 0,0-1 0,-7-6 0,5 4 0,0 0 0,-1 0 0,0 0 0,0 1 0,0 0 0,-1 1 0,0 0 0,1 0 0,-2 1 0,1 0 0,0 0 0,-1 1 0,1 0 0,-1 1 0,1 0 0,-16 1 0,2 1 0,1 0 0,0 2 0,0 0 0,0 1 0,-35 13 0,32-9 0,17-6 0,-1 0 0,0 1 0,1 0 0,0 1 0,0-1 0,0 2 0,0-1 0,0 1 0,1 0 0,0 1 0,0 0 0,-9 10 0,-2 9 0,1 1 0,1 0 0,1 2 0,-21 53 0,-129 245 0,132-268 0,-71 116 0,88-149 0,15-23 0,-1-1 0,1 1 0,0 0 0,0 0 0,0 0 0,0 0 0,1 0 0,-1 1 0,0-1 0,1 0 0,-1 0 0,1 0 0,0 1 0,0-1 0,0 0 0,0 3 0,1-4 0,-1-1 0,0 1 0,0 0 0,1-1 0,-1 1 0,0-1 0,1 1 0,-1-1 0,0 0 0,1 1 0,-1-1 0,1 1 0,-1-1 0,1 0 0,-1 1 0,1-1 0,-1 0 0,1 1 0,0-1 0,-1 0 0,2 1 0,21-3 0,-11-2 0,0-1 0,0 0 0,-1-1 0,0 0 0,0 0 0,0-1 0,18-17 0,61-66 0,-65 58 0,-2 0 0,-1-2 0,23-46 0,10-16 0,-16 26 0,-26 45 0,1 1 0,27-37 0,-39 58 0,1 0 0,-1 1 0,0-1 0,1 1 0,-1 0 0,1-1 0,0 1 0,0 1 0,0-1 0,0 0 0,0 1 0,0-1 0,0 1 0,1 0 0,-1 0 0,0 1 0,1-1 0,-1 0 0,0 1 0,1 0 0,-1 0 0,1 0 0,-1 0 0,0 1 0,1-1 0,-1 1 0,1 0 0,-1 0 0,0 0 0,0 0 0,0 1 0,0-1 0,0 1 0,0 0 0,0 0 0,0 0 0,0 0 0,-1 0 0,1 1 0,-1-1 0,0 1 0,0 0 0,0-1 0,0 1 0,0 0 0,-1 0 0,1 0 0,-1 1 0,0-1 0,1 0 0,0 7 0,1 35 0,-1 1 0,-8 77 0,5-120 0,0 10 0,-1 1 0,-1-1 0,0 0 0,-1 0 0,0-1 0,-1 1 0,0-1 0,-1 0 0,0 0 0,-1-1 0,-12 15 0,13-17 0,1-1 0,0 0 0,1 1 0,0 0 0,0 0 0,1 1 0,0-1 0,1 1 0,0-1 0,-2 18 0,4-27 0,0 0 0,0 0 0,0 0 0,0 1 0,0-1 0,0 0 0,0 0 0,0 0 0,0 0 0,0 0 0,0 0 0,0 0 0,0 1 0,0-1 0,0 0 0,0 0 0,0 0 0,0 0 0,0 0 0,0 0 0,0 0 0,0 0 0,0 1 0,0-1 0,0 0 0,0 0 0,0 0 0,0 0 0,0 0 0,0 0 0,0 0 0,1 0 0,-1 0 0,0 1 0,0-1 0,0 0 0,0 0 0,0 0 0,0 0 0,0 0 0,0 0 0,0 0 0,1 0 0,-1 0 0,0 0 0,0 0 0,0 0 0,0 0 0,0 0 0,0 0 0,0 0 0,1 0 0,-1 0 0,0 0 0,0 0 0,0 0 0,0 0 0,0 0 0,0 0 0,0 0 0,0 0 0,1 0 0,-1 0 0,7-9 0,7-14 0,41-109 0,31-60 0,-60 137 0,10-19 0,-31 66 0,-1 1 0,1 0 0,0 0 0,1 0 0,0 1 0,12-11 0,-18 16 0,1 0 0,0 0 0,0 1 0,-1-1 0,1 1 0,0-1 0,0 1 0,0-1 0,0 1 0,0-1 0,0 1 0,0 0 0,0 0 0,0-1 0,0 1 0,0 0 0,0 0 0,0 0 0,0 0 0,0 0 0,0 0 0,0 0 0,0 1 0,0-1 0,0 0 0,0 1 0,0-1 0,0 0 0,0 1 0,1 0 0,0 1 0,0 0 0,0 0 0,0 1 0,-1-1 0,1 0 0,-1 1 0,1-1 0,-1 1 0,0-1 0,0 1 0,1 3 0,2 9 0,0 0 0,2 31 0,-3 36 0,-15 161 0,1-81 0,14-131 0,1-27 0,1-19 0,4-49 0,-6 43 0,0-1 0,1 0 0,1 1 0,0 0 0,2 0 0,1 1 0,11-23 0,-3 18 0,1 0 0,39-44 0,-46 56 0,-6 9 0,-1-1 0,1 1 0,0-1 0,0 1 0,0 0 0,6-4 0,-9 8 0,0-1 0,0 1 0,0 0 0,0-1 0,0 1 0,0 0 0,0 0 0,0-1 0,0 1 0,0 0 0,0 0 0,0 0 0,0 0 0,0 1 0,0-1 0,0 0 0,0 0 0,0 1 0,0-1 0,0 0 0,0 1 0,0-1 0,0 1 0,0-1 0,0 1 0,-1-1 0,1 1 0,0 0 0,0 0 0,-1-1 0,1 1 0,0 0 0,-1 0 0,1 0 0,-1 0 0,1-1 0,-1 1 0,1 0 0,-1 0 0,0 0 0,1 2 0,6 19 0,0-1 0,-2 2 0,0-1 0,-1 0 0,0 43 0,-3 54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54:58.6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24575,'50'2'0,"58"11"0,47 1 0,-132-12 0,0 0 0,31 8 0,-30-5 0,48 4 0,-32-6 0,41 8 0,-43-5 0,57 2 0,-85-7 0,1-1 0,-1-1 0,1 0 0,-1 0 0,1-1 0,-1 0 0,0-1 0,0 0 0,0-1 0,17-8 0,-13 5 0,-1 2 0,1 0 0,1 0 0,-1 1 0,1 1 0,-1 1 0,1 0 0,0 1 0,0 0 0,26 3 0,-13 1 0,0 1 0,-1 1 0,1 2 0,45 17 0,-40-14 291,-25-8-622,0 1 0,0-1-1,0 2 1,10 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54:58.6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24575,'50'2'0,"58"11"0,47 1 0,-132-12 0,0 0 0,31 8 0,-30-5 0,48 4 0,-32-6 0,41 8 0,-43-5 0,57 2 0,-85-7 0,1-1 0,-1-1 0,1 0 0,-1 0 0,1-1 0,-1 0 0,0-1 0,0 0 0,0-1 0,17-8 0,-13 5 0,-1 2 0,1 0 0,1 0 0,-1 1 0,1 1 0,-1 1 0,1 0 0,0 1 0,0 0 0,26 3 0,-13 1 0,0 1 0,-1 1 0,1 2 0,45 17 0,-40-14 291,-25-8-622,0 1 0,0-1-1,0 2 1,10 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795E7-D340-65E3-EEB5-1C01450F4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EA9492-0746-7A56-7786-737207252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6B1DB-37A7-FC4A-C08F-EB85985A8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CE71D-9C92-6DD4-369D-8DFBD9344D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8089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3BE92-2836-2377-AC03-A2DE9BD92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BC9794-528F-622F-43DD-4480761AC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0C919C-92B7-D9DB-548B-F07A4AA3A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46616-91E6-EEB7-1856-D004D3BB5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5271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EE8AE-6B96-A0B7-5B01-1E66F7091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6B1102-F4C9-B3F6-1EBC-67E21A0E1F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509EEB-322A-5BF0-4BAB-89D92C041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D25FF-334B-A586-E002-BDB8BEB75D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4716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C844D-247B-F21F-6FC9-68DB679AF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199312-4CF7-BBA6-729F-5031C88C41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2AC4ED-FD43-55B5-7A21-ADA1C7474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E51BE-D579-EF42-1C14-2095FB2B8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655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72B77-A046-2EBA-429D-7F3D18F6F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5C46FD-BBAE-885E-8EC8-985B4B5136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C55455-2E3F-2B40-74C5-905FB9F622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5E0C3D-0EC7-7D7C-CB13-C0C45451BE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9822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5464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401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A6B61-674B-0ABF-F5C3-A72BF284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FBED0-DE41-A040-921A-D95B51852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3F754-664A-ECDE-8199-65800D976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F3E54-5ADF-52CC-11B5-B7F7837DE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1296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3C315-2F31-0964-567A-7316CBA1C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FFF20B-31C2-4485-B341-8D4BE37D5E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E42BF9-76F7-7E12-CA6C-411D0EA63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48A72-B066-3B79-5AF6-739496354C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8757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0504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3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0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20415" y="2060848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6440" y="2219553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Final Year Project Synopsis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32DFD41-0025-28B4-FE3B-A54FAEE2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734880"/>
              </p:ext>
            </p:extLst>
          </p:nvPr>
        </p:nvGraphicFramePr>
        <p:xfrm>
          <a:off x="1696134" y="3086002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5372704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050249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898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2301201119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Siddhant k. Singh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101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2301201134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Varun Sain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2063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1371600" y="983630"/>
            <a:ext cx="6781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US" sz="3200" b="1" dirty="0"/>
              <a:t>AI-Powered Campus Navigation &amp; Smart Help Desk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endParaRPr lang="en-IN" sz="1800" b="1" dirty="0">
              <a:solidFill>
                <a:srgbClr val="0070C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  <a:p>
            <a:pPr lvl="0">
              <a:buSzPct val="25000"/>
            </a:pP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Mentor:</a:t>
            </a: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Mr. Himanshu Kaushik</a:t>
            </a:r>
            <a:endParaRPr lang="en-IN" sz="1800" b="1" dirty="0">
              <a:solidFill>
                <a:srgbClr val="0070C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36495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329625"/>
            <a:ext cx="41537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8600" y="1364570"/>
            <a:ext cx="82296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/>
              <a:t>Large campuses such as universities, hospitals, corporate parks, and government institutions often consist of multiple buildings, departments, and facilities spread across wide areas. </a:t>
            </a:r>
          </a:p>
          <a:p>
            <a:pPr algn="just">
              <a:lnSpc>
                <a:spcPct val="150000"/>
              </a:lnSpc>
            </a:pPr>
            <a:endParaRPr lang="en-US" sz="1200" dirty="0"/>
          </a:p>
          <a:p>
            <a:pPr algn="just">
              <a:lnSpc>
                <a:spcPct val="150000"/>
              </a:lnSpc>
            </a:pPr>
            <a:r>
              <a:rPr lang="en-US" sz="1600" dirty="0"/>
              <a:t>Navigating these environments becomes challenging for students, staff, visitors, and especially first-time users. Relying on physical signboards or manual help desks frequently leads to confusion, delays, and repeated dependency on staff assistance.</a:t>
            </a:r>
          </a:p>
          <a:p>
            <a:pPr>
              <a:lnSpc>
                <a:spcPct val="150000"/>
              </a:lnSpc>
            </a:pPr>
            <a:endParaRPr lang="en-US" sz="2000" b="1" dirty="0"/>
          </a:p>
          <a:p>
            <a:pPr>
              <a:lnSpc>
                <a:spcPct val="150000"/>
              </a:lnSpc>
            </a:pPr>
            <a:r>
              <a:rPr lang="en-US" sz="2000" b="1" dirty="0"/>
              <a:t>Key Challenges Addressed: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Difficulty in navigating large and complex campus layouts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Over-dependence on physical help desks and manual guidance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Lack of real-time, centralized campus information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Limited accessibility support for first-time and differently-abled users</a:t>
            </a:r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12634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253425"/>
            <a:ext cx="45432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17410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304800" y="1700808"/>
            <a:ext cx="4051176" cy="3293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buNone/>
            </a:pPr>
            <a:r>
              <a:rPr lang="en-US" sz="1600" dirty="0"/>
              <a:t>The main objectives of this project are:</a:t>
            </a:r>
          </a:p>
          <a:p>
            <a:r>
              <a:rPr lang="en-US" sz="1600" dirty="0"/>
              <a:t>To develop a centralized, web-based campus navigation and assistance system</a:t>
            </a:r>
          </a:p>
          <a:p>
            <a:r>
              <a:rPr lang="en-US" sz="1600" dirty="0"/>
              <a:t>To provide real-time location search and navigation within campus premises</a:t>
            </a:r>
          </a:p>
          <a:p>
            <a:r>
              <a:rPr lang="en-US" sz="1600" dirty="0"/>
              <a:t>To integrate an AI-powered chatbot for instant query resolution</a:t>
            </a:r>
          </a:p>
          <a:p>
            <a:r>
              <a:rPr lang="en-US" sz="1600" dirty="0"/>
              <a:t>To reduce dependency on physical help desks and manual guidance</a:t>
            </a:r>
          </a:p>
          <a:p>
            <a:r>
              <a:rPr lang="en-US" sz="1600" dirty="0"/>
              <a:t>To improve accessibility and ease of navigation for all users, including first-time visitors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0B26A4-B5C1-E18A-3D59-DD751EE536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83" t="9476" r="6240" b="15127"/>
          <a:stretch>
            <a:fillRect/>
          </a:stretch>
        </p:blipFill>
        <p:spPr>
          <a:xfrm>
            <a:off x="4355976" y="1628800"/>
            <a:ext cx="4733800" cy="381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148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55712" y="253425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361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51520" y="1377700"/>
            <a:ext cx="8784977" cy="40675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600" dirty="0"/>
              <a:t>The proposed solution is an </a:t>
            </a:r>
            <a:r>
              <a:rPr lang="en-US" sz="1600" b="1" dirty="0"/>
              <a:t>AI-Powered Campus Navigation &amp; Smart Help Desk System</a:t>
            </a:r>
            <a:r>
              <a:rPr lang="en-US" sz="1600" dirty="0"/>
              <a:t> developed as a web-based platform using modern full-stack technologies. 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Key Features Include: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/>
              <a:t>AI-powered chatbot for instant, conversational assistance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Interactive digital campus map with real-time route guidance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Centralized campus information management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Web-based, responsive, and user-friendly interface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24/7 availability without dependency on physical help desks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Scalable architecture adaptable to different campus types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Reduced human intervention and improved operational efficiency</a:t>
            </a:r>
          </a:p>
        </p:txBody>
      </p:sp>
    </p:spTree>
    <p:extLst>
      <p:ext uri="{BB962C8B-B14F-4D97-AF65-F5344CB8AC3E}">
        <p14:creationId xmlns:p14="http://schemas.microsoft.com/office/powerpoint/2010/main" val="1734979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F9784-3CC2-3AC7-61AC-177879E2A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9FF4796-AECE-4CB9-0728-8285284F53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3917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9E86FB5-5804-5032-D20E-50A0A14E1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44288"/>
            <a:ext cx="56886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Progress Summary</a:t>
            </a:r>
            <a:endParaRPr lang="en-IN" sz="32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C31AA8-9F59-02C9-4BA2-78BF9559534F}"/>
              </a:ext>
            </a:extLst>
          </p:cNvPr>
          <p:cNvCxnSpPr/>
          <p:nvPr/>
        </p:nvCxnSpPr>
        <p:spPr>
          <a:xfrm>
            <a:off x="-18257" y="836712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DDC13BC-27DF-65F0-CEB9-CE193AAE71C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389BC9F-495A-FC6E-E380-83049DD47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950531"/>
            <a:ext cx="828092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The following major modules and features have been developed.</a:t>
            </a:r>
          </a:p>
          <a:p>
            <a:r>
              <a:rPr lang="en-US" sz="1600" b="1" dirty="0"/>
              <a:t>1. Multi-Role Authentication System</a:t>
            </a:r>
          </a:p>
          <a:p>
            <a:r>
              <a:rPr lang="en-US" sz="1600" dirty="0"/>
              <a:t>Implemented a </a:t>
            </a:r>
            <a:r>
              <a:rPr lang="en-US" sz="1600" b="1" dirty="0"/>
              <a:t>three-role login system</a:t>
            </a:r>
            <a:r>
              <a:rPr lang="en-US" sz="1600" dirty="0"/>
              <a:t> for different users: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Students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Faculty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Admin</a:t>
            </a:r>
            <a:endParaRPr lang="en-US" sz="1600" dirty="0"/>
          </a:p>
          <a:p>
            <a:r>
              <a:rPr lang="en-US" sz="1600" dirty="0"/>
              <a:t>Each role has </a:t>
            </a:r>
            <a:r>
              <a:rPr lang="en-US" sz="1600" b="1" dirty="0"/>
              <a:t>separate access permissions and functionalities</a:t>
            </a:r>
            <a:r>
              <a:rPr lang="en-US" sz="1600" dirty="0"/>
              <a:t> within the system.</a:t>
            </a:r>
          </a:p>
          <a:p>
            <a:endParaRPr lang="en-US" sz="1600" b="1" dirty="0"/>
          </a:p>
          <a:p>
            <a:r>
              <a:rPr lang="en-US" sz="1600" b="1" dirty="0"/>
              <a:t>2. User Dashboard Interface</a:t>
            </a:r>
          </a:p>
          <a:p>
            <a:r>
              <a:rPr lang="en-US" sz="1600" dirty="0"/>
              <a:t>Developed a </a:t>
            </a:r>
            <a:r>
              <a:rPr lang="en-US" sz="1600" b="1" dirty="0"/>
              <a:t>centralized dashboard</a:t>
            </a:r>
            <a:r>
              <a:rPr lang="en-US" sz="1600" dirty="0"/>
              <a:t> for logged-in users.</a:t>
            </a:r>
          </a:p>
          <a:p>
            <a:r>
              <a:rPr lang="en-US" sz="1600" dirty="0"/>
              <a:t>The dashboard provides quick access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Navigation features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Class schedules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Timetable information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Help desk services.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b="1" dirty="0"/>
              <a:t>3. Classroom Booking System</a:t>
            </a:r>
          </a:p>
          <a:p>
            <a:r>
              <a:rPr lang="en-US" sz="1600" dirty="0"/>
              <a:t>Implemented a </a:t>
            </a:r>
            <a:r>
              <a:rPr lang="en-US" sz="1600" b="1" dirty="0"/>
              <a:t>booking structure for classrooms</a:t>
            </a:r>
            <a:r>
              <a:rPr lang="en-US" sz="1600" dirty="0"/>
              <a:t> that allows scheduling of lecture halls or rooms.</a:t>
            </a:r>
          </a:p>
          <a:p>
            <a:r>
              <a:rPr lang="en-US" sz="1600" dirty="0"/>
              <a:t>Admin or faculty can manage booking information to avoid conflicts.</a:t>
            </a:r>
          </a:p>
          <a:p>
            <a:r>
              <a:rPr lang="en-US" sz="1600" dirty="0"/>
              <a:t>The system uses </a:t>
            </a:r>
            <a:r>
              <a:rPr lang="en-US" sz="1600" b="1" dirty="0"/>
              <a:t>interactive maps and location search</a:t>
            </a:r>
            <a:r>
              <a:rPr lang="en-US" sz="1600" dirty="0"/>
              <a:t> to guide users to their destination.</a:t>
            </a:r>
          </a:p>
        </p:txBody>
      </p:sp>
    </p:spTree>
    <p:extLst>
      <p:ext uri="{BB962C8B-B14F-4D97-AF65-F5344CB8AC3E}">
        <p14:creationId xmlns:p14="http://schemas.microsoft.com/office/powerpoint/2010/main" val="2028231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33F2B-4274-D144-7093-B867F4CB3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9527858-67DE-3DF8-FF01-8DB1846AEB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3917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2CBC630-DA86-8B5C-8CF1-BBD133225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44288"/>
            <a:ext cx="56886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Progress Summary</a:t>
            </a:r>
            <a:endParaRPr lang="en-IN" sz="32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FB5C432-E63F-6355-19A5-32B65372F4DD}"/>
              </a:ext>
            </a:extLst>
          </p:cNvPr>
          <p:cNvCxnSpPr/>
          <p:nvPr/>
        </p:nvCxnSpPr>
        <p:spPr>
          <a:xfrm>
            <a:off x="-18257" y="836712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6D3DC83-45E5-89A4-957B-69C5B50632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219C825-3C27-8ECD-2200-A81965DE1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952792"/>
            <a:ext cx="8280920" cy="5224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/>
              <a:t>5. Course Timetable Module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Implemented a </a:t>
            </a:r>
            <a:r>
              <a:rPr lang="en-US" sz="1600" b="1" dirty="0"/>
              <a:t>timetable system</a:t>
            </a:r>
            <a:r>
              <a:rPr lang="en-US" sz="1600" dirty="0"/>
              <a:t> that displays course schedules for students and faculty.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Users can easily view their </a:t>
            </a:r>
            <a:r>
              <a:rPr lang="en-US" sz="1600" b="1" dirty="0"/>
              <a:t>daily or weekly class timetable</a:t>
            </a:r>
            <a:r>
              <a:rPr lang="en-US" sz="16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6. Class Scheduling Module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Developed a </a:t>
            </a:r>
            <a:r>
              <a:rPr lang="en-US" sz="1600" b="1" dirty="0"/>
              <a:t>class scheduling structure</a:t>
            </a:r>
            <a:r>
              <a:rPr lang="en-US" sz="1600" dirty="0"/>
              <a:t> that manages lecture timings and room allocations.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7. Digital Help Desk System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Implemented a </a:t>
            </a:r>
            <a:r>
              <a:rPr lang="en-US" sz="1600" b="1" dirty="0"/>
              <a:t>virtual help desk interface</a:t>
            </a:r>
            <a:r>
              <a:rPr lang="en-US" sz="1600" dirty="0"/>
              <a:t> to assist users with campus-related queries.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Provides information about departments, rooms, facilities, and campus services.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8. AI Chatbot Integration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Integrated an </a:t>
            </a:r>
            <a:r>
              <a:rPr lang="en-US" sz="1600" b="1" dirty="0"/>
              <a:t>AI-powered chatbot module</a:t>
            </a:r>
            <a:r>
              <a:rPr lang="en-US" sz="1600" dirty="0"/>
              <a:t> to handle user queries.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The chatbot provides assistance for: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Campus navigation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Location queries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General campus information.</a:t>
            </a:r>
          </a:p>
        </p:txBody>
      </p:sp>
    </p:spTree>
    <p:extLst>
      <p:ext uri="{BB962C8B-B14F-4D97-AF65-F5344CB8AC3E}">
        <p14:creationId xmlns:p14="http://schemas.microsoft.com/office/powerpoint/2010/main" val="1305621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5C45B-C9D0-DBF5-811F-0F08DB7B9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CAFCE0-31E7-9CED-BEF6-9C94A97D7C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C8D1C93-2569-153C-C90B-6D82C35C1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77423"/>
            <a:ext cx="89644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Detailed Progress – Development Phase</a:t>
            </a:r>
            <a:endParaRPr lang="en-IN" sz="28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161CDA-82E4-E4CE-AB8A-F7E4594878E9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FB65409-50C0-1C48-4C06-AA7695D3A2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BBE2B9-71CC-053F-D13D-3E57E8DF8B6D}"/>
              </a:ext>
            </a:extLst>
          </p:cNvPr>
          <p:cNvSpPr txBox="1"/>
          <p:nvPr/>
        </p:nvSpPr>
        <p:spPr>
          <a:xfrm>
            <a:off x="462956" y="1358797"/>
            <a:ext cx="8218088" cy="462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System Architecture: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</a:t>
            </a:r>
            <a:r>
              <a:rPr lang="en-US" sz="1600" dirty="0"/>
              <a:t>esigned a </a:t>
            </a:r>
            <a:r>
              <a:rPr lang="en-US" sz="1600" b="1" dirty="0"/>
              <a:t>layered architecture</a:t>
            </a:r>
            <a:r>
              <a:rPr lang="en-US" sz="1600" dirty="0"/>
              <a:t> consisting of UI layer, backend services, database layer, AI chatbot module, and mapping services.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Implemented </a:t>
            </a:r>
            <a:r>
              <a:rPr lang="en-US" sz="1600" b="1" dirty="0"/>
              <a:t>REST API communication</a:t>
            </a:r>
            <a:r>
              <a:rPr lang="en-US" sz="1600" dirty="0"/>
              <a:t> between frontend and backend components.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Structured the system to support </a:t>
            </a:r>
            <a:r>
              <a:rPr lang="en-US" sz="1600" b="1" dirty="0"/>
              <a:t>scalability and modular integration</a:t>
            </a:r>
            <a:r>
              <a:rPr lang="en-US" sz="1600" dirty="0"/>
              <a:t> of AI and mapping services.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/>
          </a:p>
          <a:p>
            <a:r>
              <a:rPr lang="en-US" b="1" dirty="0"/>
              <a:t>Frontend Development:</a:t>
            </a:r>
            <a:endParaRPr lang="en-US" sz="16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Developed the </a:t>
            </a:r>
            <a:r>
              <a:rPr lang="en-US" sz="1600" b="1" dirty="0"/>
              <a:t>web-based user interface using React.js, HTML, CSS, and JavaScript</a:t>
            </a:r>
            <a:r>
              <a:rPr lang="en-US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Implemented the </a:t>
            </a:r>
            <a:r>
              <a:rPr lang="en-US" sz="1600" b="1" dirty="0"/>
              <a:t>interactive campus map interface</a:t>
            </a:r>
            <a:r>
              <a:rPr lang="en-US" sz="1600" dirty="0"/>
              <a:t> for displaying campus locations.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Created </a:t>
            </a:r>
            <a:r>
              <a:rPr lang="en-US" sz="1600" b="1" dirty="0"/>
              <a:t>search functionality</a:t>
            </a:r>
            <a:r>
              <a:rPr lang="en-US" sz="1600" dirty="0"/>
              <a:t> to locate buildings, departments, and facilities.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Integrated a </a:t>
            </a:r>
            <a:r>
              <a:rPr lang="en-US" sz="1600" b="1" dirty="0"/>
              <a:t>chatbot interface</a:t>
            </a:r>
            <a:r>
              <a:rPr lang="en-US" sz="1600" dirty="0"/>
              <a:t> for user interaction and query submission.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Designed the UI to be </a:t>
            </a:r>
            <a:r>
              <a:rPr lang="en-US" sz="1600" b="1" dirty="0"/>
              <a:t>responsive and user-friendly across devices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2546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528B7-8C71-8E4B-A819-310F4C39C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33F66C5-86BD-4AAF-2216-228FF11BCB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96CA44CB-7DEE-CDC7-84D6-39021B650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77423"/>
            <a:ext cx="89644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Detailed Progress – Development Phase</a:t>
            </a:r>
            <a:endParaRPr lang="en-IN" sz="28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1336B7-4614-36A6-A5DB-F6FAFCCE60C1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71CA4D68-6969-A5A5-CBD6-54E77F737F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3755E7-B6C7-23CD-E2A8-390675031762}"/>
              </a:ext>
            </a:extLst>
          </p:cNvPr>
          <p:cNvSpPr txBox="1"/>
          <p:nvPr/>
        </p:nvSpPr>
        <p:spPr>
          <a:xfrm>
            <a:off x="481212" y="1556792"/>
            <a:ext cx="8218088" cy="3747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/>
              <a:t>Backend Development </a:t>
            </a:r>
            <a:r>
              <a:rPr lang="en-US" sz="1600" dirty="0"/>
              <a:t>Developed the </a:t>
            </a:r>
            <a:r>
              <a:rPr lang="en-US" sz="1600" b="1" dirty="0"/>
              <a:t>server-side architecture using Node.js and Express.js</a:t>
            </a:r>
            <a:r>
              <a:rPr lang="en-US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Created </a:t>
            </a:r>
            <a:r>
              <a:rPr lang="en-US" sz="1600" b="1" dirty="0"/>
              <a:t>REST API endpoints</a:t>
            </a:r>
            <a:r>
              <a:rPr lang="en-US" sz="1600" dirty="0"/>
              <a:t> for handling navigation queries and system requests.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Implemented </a:t>
            </a:r>
            <a:r>
              <a:rPr lang="en-US" sz="1600" b="1" dirty="0"/>
              <a:t>business logic for route generation and data processing</a:t>
            </a:r>
            <a:r>
              <a:rPr lang="en-US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Integrated backend services with the </a:t>
            </a:r>
            <a:r>
              <a:rPr lang="en-US" sz="1600" b="1" dirty="0"/>
              <a:t>AI chatbot module</a:t>
            </a:r>
            <a:r>
              <a:rPr lang="en-US" sz="1600" dirty="0"/>
              <a:t> for query interpretation.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Managed communication between </a:t>
            </a:r>
            <a:r>
              <a:rPr lang="en-US" sz="1600" b="1" dirty="0"/>
              <a:t>frontend interface, database, and mapping services</a:t>
            </a:r>
            <a:r>
              <a:rPr lang="en-US" sz="1600" dirty="0"/>
              <a:t>.</a:t>
            </a:r>
          </a:p>
          <a:p>
            <a:pPr>
              <a:lnSpc>
                <a:spcPct val="150000"/>
              </a:lnSpc>
            </a:pP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/>
              <a:t>Database Implementation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Designed a </a:t>
            </a:r>
            <a:r>
              <a:rPr lang="en-US" sz="1600" b="1" dirty="0"/>
              <a:t>MongoDB database schema</a:t>
            </a:r>
            <a:r>
              <a:rPr lang="en-US" sz="1600" dirty="0"/>
              <a:t> to store campus information.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Created collections for </a:t>
            </a:r>
            <a:r>
              <a:rPr lang="en-US" sz="1600" b="1" dirty="0"/>
              <a:t>buildings, departments, facilities, and key locations</a:t>
            </a:r>
            <a:r>
              <a:rPr lang="en-US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Implemented </a:t>
            </a:r>
            <a:r>
              <a:rPr lang="en-US" sz="1600" b="1" dirty="0"/>
              <a:t>database queries for retrieving campus data efficiently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5671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A9C47-0B1A-E81C-4DDB-92023771C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6B1759F-4833-A8B3-3E68-6C1A082D34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C84820B-53A2-4809-AFFF-6FE5B9AFD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77423"/>
            <a:ext cx="89644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Detailed Progress – Development Phase</a:t>
            </a:r>
            <a:endParaRPr lang="en-IN" sz="28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19DEC07-6A9D-9DAA-2C9A-D7F904469F8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4CE677C-737E-BB40-1900-2FDEEAEA103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7B5872C-3209-A796-F5DD-F3C62649473F}"/>
              </a:ext>
            </a:extLst>
          </p:cNvPr>
          <p:cNvSpPr txBox="1"/>
          <p:nvPr/>
        </p:nvSpPr>
        <p:spPr>
          <a:xfrm>
            <a:off x="611560" y="1340768"/>
            <a:ext cx="8208912" cy="5224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/>
              <a:t>AI Chatbot Integration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Implemented </a:t>
            </a:r>
            <a:r>
              <a:rPr lang="en-US" sz="1600" b="1" dirty="0"/>
              <a:t>NLP-based chatbot processing</a:t>
            </a:r>
            <a:r>
              <a:rPr lang="en-US" sz="1600" dirty="0"/>
              <a:t> for interpreting user queries.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Integrated chatbot with backend APIs to retrieve relevant campus data.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Enabled responses for </a:t>
            </a:r>
            <a:r>
              <a:rPr lang="en-US" sz="1600" b="1" dirty="0"/>
              <a:t>location queries and navigation instructions</a:t>
            </a:r>
            <a:r>
              <a:rPr lang="en-US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/>
              <a:t>Mapping &amp; Navigation Integration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Integrated </a:t>
            </a:r>
            <a:r>
              <a:rPr lang="en-US" sz="1600" b="1" dirty="0"/>
              <a:t>OpenStreetMap / </a:t>
            </a:r>
            <a:r>
              <a:rPr lang="en-US" sz="1600" b="1" dirty="0" err="1"/>
              <a:t>Mapbox</a:t>
            </a:r>
            <a:r>
              <a:rPr lang="en-US" sz="1600" b="1" dirty="0"/>
              <a:t> APIs</a:t>
            </a:r>
            <a:r>
              <a:rPr lang="en-US" sz="1600" dirty="0"/>
              <a:t> for map visualization.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Implemented functionality to </a:t>
            </a:r>
            <a:r>
              <a:rPr lang="en-US" sz="1600" b="1" dirty="0"/>
              <a:t>display campus locations and generate routes</a:t>
            </a:r>
            <a:r>
              <a:rPr lang="en-US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Connected mapping services with backend APIs and database.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/>
              <a:t>Current Development Status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Chatbot and mapping integration in progress</a:t>
            </a:r>
            <a:r>
              <a:rPr lang="en-US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System moving toward </a:t>
            </a:r>
            <a:r>
              <a:rPr lang="en-US" sz="1600" b="1" dirty="0"/>
              <a:t>final integration and testing phase</a:t>
            </a:r>
            <a:r>
              <a:rPr lang="en-US" sz="1600" dirty="0"/>
              <a:t>.</a:t>
            </a:r>
          </a:p>
          <a:p>
            <a:pPr>
              <a:lnSpc>
                <a:spcPct val="150000"/>
              </a:lnSpc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24234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52881F-0210-1C23-2E33-B0AFFF509720}"/>
              </a:ext>
            </a:extLst>
          </p:cNvPr>
          <p:cNvSpPr txBox="1"/>
          <p:nvPr/>
        </p:nvSpPr>
        <p:spPr>
          <a:xfrm>
            <a:off x="611560" y="1340768"/>
            <a:ext cx="8064896" cy="4486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The AI-Powered Campus Navigation &amp; Smart Help Desk System is developed using a structured, modular approach to ensure scalability, efficiency, and ease of use. The overall workflow of the system is as follows:</a:t>
            </a:r>
          </a:p>
          <a:p>
            <a:pPr>
              <a:lnSpc>
                <a:spcPct val="150000"/>
              </a:lnSpc>
            </a:pP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/>
              <a:t>For a better understanding of the workflow of this system, let us focus on the below points: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User accesses the </a:t>
            </a:r>
            <a:r>
              <a:rPr lang="en-US" sz="1600" b="1" dirty="0"/>
              <a:t>web-based campus navigation system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Query is submitted through search or </a:t>
            </a:r>
            <a:r>
              <a:rPr lang="en-US" sz="1600" b="1" dirty="0"/>
              <a:t>AI chatbot interface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Backend processes the request via </a:t>
            </a:r>
            <a:r>
              <a:rPr lang="en-US" sz="1600" b="1" dirty="0"/>
              <a:t>REST APIs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AI chatbot</a:t>
            </a:r>
            <a:r>
              <a:rPr lang="en-US" sz="1600" dirty="0"/>
              <a:t> analyzes intent using </a:t>
            </a:r>
            <a:r>
              <a:rPr lang="en-US" sz="1600" b="1" dirty="0"/>
              <a:t>NLP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Campus data and routes are retrieved from </a:t>
            </a:r>
            <a:r>
              <a:rPr lang="en-US" sz="1600" b="1" dirty="0"/>
              <a:t>database</a:t>
            </a:r>
            <a:r>
              <a:rPr lang="en-US" sz="1600" dirty="0"/>
              <a:t> and </a:t>
            </a:r>
            <a:r>
              <a:rPr lang="en-US" sz="1600" b="1" dirty="0"/>
              <a:t>map services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Navigation</a:t>
            </a:r>
            <a:r>
              <a:rPr lang="en-US" sz="1600" dirty="0"/>
              <a:t> or information is displayed to the user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System is tested and refined through iterative improvements</a:t>
            </a:r>
          </a:p>
        </p:txBody>
      </p:sp>
    </p:spTree>
    <p:extLst>
      <p:ext uri="{BB962C8B-B14F-4D97-AF65-F5344CB8AC3E}">
        <p14:creationId xmlns:p14="http://schemas.microsoft.com/office/powerpoint/2010/main" val="1099878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3" y="100424"/>
            <a:ext cx="828092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Prototype/Project Flow diagram/Architecture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B1AC4FE-9A4F-F464-CA8E-3B900C297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2AEF02E-64A6-6432-1444-81368AF7F7EA}"/>
                  </a:ext>
                </a:extLst>
              </p14:cNvPr>
              <p14:cNvContentPartPr/>
              <p14:nvPr/>
            </p14:nvContentPartPr>
            <p14:xfrm>
              <a:off x="6087360" y="2475240"/>
              <a:ext cx="646200" cy="333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2AEF02E-64A6-6432-1444-81368AF7F7E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24360" y="2412240"/>
                <a:ext cx="771840" cy="45936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EA01885D-BBE3-052C-42B1-D3798BEA9A7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97" t="6089" r="15430" b="1125"/>
          <a:stretch>
            <a:fillRect/>
          </a:stretch>
        </p:blipFill>
        <p:spPr>
          <a:xfrm>
            <a:off x="1403648" y="1234035"/>
            <a:ext cx="6480720" cy="5075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371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D42DB-FF71-D8E6-630F-399C60C5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2FB631E-E469-C80D-C58A-99E545F37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B6D9598-AD90-B9CA-8610-998CE22F1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2D34C-9176-DD2A-8AAF-507BD46BD71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066F8A4-300F-9AE0-4A5E-2A2D19A8A5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66FAC4-E627-209B-D9A4-20EC84D69C44}"/>
              </a:ext>
            </a:extLst>
          </p:cNvPr>
          <p:cNvSpPr txBox="1"/>
          <p:nvPr/>
        </p:nvSpPr>
        <p:spPr>
          <a:xfrm>
            <a:off x="179512" y="1196752"/>
            <a:ext cx="87849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Phase 1 (Weeks 1): </a:t>
            </a:r>
            <a:r>
              <a:rPr lang="en-US" sz="1600" b="1" dirty="0"/>
              <a:t>Requirement Analysis &amp; Planning</a:t>
            </a:r>
          </a:p>
          <a:p>
            <a:pPr lvl="1"/>
            <a:r>
              <a:rPr lang="en-US" sz="1600" dirty="0"/>
              <a:t>Analysis of campus layout, user requirements, navigation challenges, and system feasibility.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Phase 2 (Weeks 2-3): </a:t>
            </a:r>
            <a:r>
              <a:rPr lang="en-US" sz="1600" b="1" dirty="0"/>
              <a:t>System Design &amp; UI Development</a:t>
            </a:r>
          </a:p>
          <a:p>
            <a:pPr lvl="1"/>
            <a:r>
              <a:rPr lang="en-US" sz="1600" dirty="0"/>
              <a:t>Design of system architecture, database schema, and development of user-friendly frontend interface.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Phase 3 (Weeks 4-5): </a:t>
            </a:r>
            <a:r>
              <a:rPr lang="en-US" sz="1600" b="1" dirty="0"/>
              <a:t>Backend Development &amp; Data Integration</a:t>
            </a:r>
          </a:p>
          <a:p>
            <a:pPr lvl="1"/>
            <a:r>
              <a:rPr lang="en-US" sz="1600" dirty="0"/>
              <a:t>Implementation of backend services, REST APIs, and centralized campus data management.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Phase 4 (Weeks 6): </a:t>
            </a:r>
            <a:r>
              <a:rPr lang="en-US" sz="1600" b="1" dirty="0"/>
              <a:t>AI Chatbot &amp; Mapping Integration</a:t>
            </a:r>
          </a:p>
          <a:p>
            <a:pPr lvl="1"/>
            <a:r>
              <a:rPr lang="en-US" sz="1600" dirty="0"/>
              <a:t>Integration of NLP-based chatbot and interactive mapping services for navigation.</a:t>
            </a:r>
          </a:p>
          <a:p>
            <a:pPr lvl="1"/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Phase 5 (Weeks 7-9): </a:t>
            </a:r>
            <a:r>
              <a:rPr lang="en-US" sz="1600" b="1" dirty="0"/>
              <a:t>Testing, Optimization &amp; Deployment</a:t>
            </a:r>
          </a:p>
          <a:p>
            <a:pPr lvl="1"/>
            <a:r>
              <a:rPr lang="en-US" sz="1600" dirty="0"/>
              <a:t>Functional testing, performance optimization, bug fixing, and final deployment.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3A55479-5820-9331-B8CC-0F9A13C7AC18}"/>
                  </a:ext>
                </a:extLst>
              </p14:cNvPr>
              <p14:cNvContentPartPr/>
              <p14:nvPr/>
            </p14:nvContentPartPr>
            <p14:xfrm>
              <a:off x="7203160" y="2489200"/>
              <a:ext cx="484560" cy="34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3A55479-5820-9331-B8CC-0F9A13C7AC1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40520" y="2426200"/>
                <a:ext cx="610200" cy="16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9508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CDCA2-809E-6D83-D42D-750510F89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1972655-A0FD-7923-EAE6-F8504228D9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586354D-B57C-4AB5-50E5-D5E6E2A51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Next Steps and Goals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AA045F8-58D6-32DE-1A78-7BF61B468745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2C63B0B-38AB-BDC6-BC45-A8B7244E28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05AE5B-E43E-CFC9-59E3-0853A368E8B8}"/>
              </a:ext>
            </a:extLst>
          </p:cNvPr>
          <p:cNvSpPr txBox="1"/>
          <p:nvPr/>
        </p:nvSpPr>
        <p:spPr>
          <a:xfrm>
            <a:off x="323528" y="1340768"/>
            <a:ext cx="8784976" cy="5017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/>
              <a:t>1. Advanced Navigation Optimization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Improve the </a:t>
            </a:r>
            <a:r>
              <a:rPr lang="en-US" sz="1600" b="1" dirty="0"/>
              <a:t>campus navigation system</a:t>
            </a:r>
            <a:r>
              <a:rPr lang="en-US" sz="1600" dirty="0"/>
              <a:t> with more precise routing between buildings, classrooms, and facilities. Implement </a:t>
            </a:r>
            <a:r>
              <a:rPr lang="en-US" sz="1600" b="1" dirty="0"/>
              <a:t>optimized path generation</a:t>
            </a:r>
            <a:r>
              <a:rPr lang="en-US" sz="1600" dirty="0"/>
              <a:t> for faster and more accurate directions.</a:t>
            </a:r>
          </a:p>
          <a:p>
            <a:pPr>
              <a:lnSpc>
                <a:spcPct val="150000"/>
              </a:lnSpc>
            </a:pPr>
            <a:endParaRPr lang="en-US" sz="600" dirty="0"/>
          </a:p>
          <a:p>
            <a:pPr>
              <a:lnSpc>
                <a:spcPct val="150000"/>
              </a:lnSpc>
            </a:pPr>
            <a:r>
              <a:rPr lang="en-US" sz="1600" b="1" dirty="0"/>
              <a:t>2. Indoor Navigation Support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Extend the navigation system to support </a:t>
            </a:r>
            <a:r>
              <a:rPr lang="en-US" sz="1600" b="1" dirty="0"/>
              <a:t>indoor navigation within buildings</a:t>
            </a:r>
            <a:r>
              <a:rPr lang="en-US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Enable users to locate </a:t>
            </a:r>
            <a:r>
              <a:rPr lang="en-US" sz="1600" b="1" dirty="0"/>
              <a:t>specific classrooms, labs, and offices inside buildings</a:t>
            </a:r>
            <a:r>
              <a:rPr lang="en-US" sz="16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3. Real-Time Data Updates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Implement real-time updates for </a:t>
            </a:r>
            <a:r>
              <a:rPr lang="en-US" sz="1600" b="1" dirty="0"/>
              <a:t>class schedules, room availability, and bookings</a:t>
            </a:r>
            <a:r>
              <a:rPr lang="en-US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Ensure the system reflects </a:t>
            </a:r>
            <a:r>
              <a:rPr lang="en-US" sz="1600" b="1" dirty="0"/>
              <a:t>dynamic changes in classroom allocation and schedules</a:t>
            </a:r>
            <a:r>
              <a:rPr lang="en-US" sz="16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4. Enhanced AI Chatbot Capabilities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Improve the </a:t>
            </a:r>
            <a:r>
              <a:rPr lang="en-US" sz="1600" b="1" dirty="0"/>
              <a:t>AI chatbot's natural language understanding</a:t>
            </a:r>
            <a:r>
              <a:rPr lang="en-US" sz="1600" dirty="0"/>
              <a:t> to handle more complex queries.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Enable the chatbot to provide </a:t>
            </a:r>
            <a:r>
              <a:rPr lang="en-US" sz="1600" b="1" dirty="0"/>
              <a:t>context-based responses related to schedules, navigation, and campus services</a:t>
            </a:r>
            <a:r>
              <a:rPr lang="en-US" sz="1600" dirty="0"/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71A80A2-EA03-6476-D9C3-239857EC94CB}"/>
                  </a:ext>
                </a:extLst>
              </p14:cNvPr>
              <p14:cNvContentPartPr/>
              <p14:nvPr/>
            </p14:nvContentPartPr>
            <p14:xfrm>
              <a:off x="7203160" y="2489200"/>
              <a:ext cx="484560" cy="34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71A80A2-EA03-6476-D9C3-239857EC94C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40160" y="2426200"/>
                <a:ext cx="610200" cy="16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6508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&amp; Resources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5EF37C-6FEF-FE0B-915C-41308C5E1438}"/>
              </a:ext>
            </a:extLst>
          </p:cNvPr>
          <p:cNvSpPr txBox="1"/>
          <p:nvPr/>
        </p:nvSpPr>
        <p:spPr>
          <a:xfrm>
            <a:off x="228600" y="1462132"/>
            <a:ext cx="878497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The system is developed using modern web technologies to ensure responsiveness, scalability, and efficient data handling. These tools enable seamless integration between the user interface, backend services, and AI components.</a:t>
            </a:r>
          </a:p>
          <a:p>
            <a:endParaRPr lang="en-US" sz="1600" dirty="0"/>
          </a:p>
          <a:p>
            <a:r>
              <a:rPr lang="en-US" sz="1600" dirty="0"/>
              <a:t>The structure for the Tech-Stack focuses on the following:</a:t>
            </a:r>
          </a:p>
          <a:p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Frontend:</a:t>
            </a:r>
            <a:r>
              <a:rPr lang="en-US" sz="1600" dirty="0"/>
              <a:t> React.js, HTML5, CSS3, JavaScript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Backend:</a:t>
            </a:r>
            <a:r>
              <a:rPr lang="en-US" sz="1600" dirty="0"/>
              <a:t> Node.js, Express.js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Database:</a:t>
            </a:r>
            <a:r>
              <a:rPr lang="en-US" sz="1600" dirty="0"/>
              <a:t> MongoDB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AI &amp; NLP:</a:t>
            </a:r>
            <a:r>
              <a:rPr lang="en-US" sz="1600" dirty="0"/>
              <a:t> Chatbot frameworks, NLP APIs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Mapping:</a:t>
            </a:r>
            <a:r>
              <a:rPr lang="en-US" sz="1600" dirty="0"/>
              <a:t> OpenStreetMap, Leaflet / </a:t>
            </a:r>
            <a:r>
              <a:rPr lang="en-US" sz="1600" dirty="0" err="1"/>
              <a:t>Mapbox</a:t>
            </a: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APIs &amp; Tools:</a:t>
            </a:r>
            <a:r>
              <a:rPr lang="en-US" sz="1600" dirty="0"/>
              <a:t> REST APIs, Axios</a:t>
            </a:r>
          </a:p>
        </p:txBody>
      </p:sp>
    </p:spTree>
    <p:extLst>
      <p:ext uri="{BB962C8B-B14F-4D97-AF65-F5344CB8AC3E}">
        <p14:creationId xmlns:p14="http://schemas.microsoft.com/office/powerpoint/2010/main" val="3449068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Impact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B7D393CA-AD66-F261-2593-ABC26120C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412776"/>
            <a:ext cx="8888288" cy="3378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+mj-lt"/>
              </a:rPr>
              <a:t>Following are the expected outcomes for Future Objectives: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+mj-lt"/>
              </a:rPr>
              <a:t>Easy </a:t>
            </a:r>
            <a:r>
              <a:rPr lang="en-US" altLang="en-US" sz="1600" b="1" dirty="0">
                <a:latin typeface="+mj-lt"/>
              </a:rPr>
              <a:t>navigation to classrooms, departments, and campus facilities</a:t>
            </a:r>
            <a:r>
              <a:rPr lang="en-US" altLang="en-US" sz="1600" dirty="0">
                <a:latin typeface="+mj-lt"/>
              </a:rPr>
              <a:t> through the digital navigation system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latin typeface="+mj-lt"/>
              </a:rPr>
              <a:t>Centralized access to timetables, schedules, and room information</a:t>
            </a:r>
            <a:r>
              <a:rPr lang="en-US" altLang="en-US" sz="1600" dirty="0">
                <a:latin typeface="+mj-lt"/>
              </a:rPr>
              <a:t> through a user dashboard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+mj-lt"/>
              </a:rPr>
              <a:t>Efficient </a:t>
            </a:r>
            <a:r>
              <a:rPr lang="en-US" altLang="en-US" sz="1600" b="1" dirty="0">
                <a:latin typeface="+mj-lt"/>
              </a:rPr>
              <a:t>classroom booking and scheduling management</a:t>
            </a:r>
            <a:r>
              <a:rPr lang="en-US" altLang="en-US" sz="1600" dirty="0">
                <a:latin typeface="+mj-lt"/>
              </a:rPr>
              <a:t> to prevent conflicts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latin typeface="+mj-lt"/>
              </a:rPr>
              <a:t>AI chatbot assistance</a:t>
            </a:r>
            <a:r>
              <a:rPr lang="en-US" altLang="en-US" sz="1600" dirty="0">
                <a:latin typeface="+mj-lt"/>
              </a:rPr>
              <a:t> for answering campus-related queries and navigation help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+mj-lt"/>
              </a:rPr>
              <a:t>Improved </a:t>
            </a:r>
            <a:r>
              <a:rPr lang="en-US" altLang="en-US" sz="1600" b="1" dirty="0">
                <a:latin typeface="+mj-lt"/>
              </a:rPr>
              <a:t>user experience and accessibility</a:t>
            </a:r>
            <a:r>
              <a:rPr lang="en-US" altLang="en-US" sz="1600" dirty="0">
                <a:latin typeface="+mj-lt"/>
              </a:rPr>
              <a:t> for students, faculty, and visitors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+mj-lt"/>
              </a:rPr>
              <a:t>Reduced </a:t>
            </a:r>
            <a:r>
              <a:rPr lang="en-US" altLang="en-US" sz="1600" b="1" dirty="0">
                <a:latin typeface="+mj-lt"/>
              </a:rPr>
              <a:t>administrative workload</a:t>
            </a:r>
            <a:r>
              <a:rPr lang="en-US" altLang="en-US" sz="1600" dirty="0">
                <a:latin typeface="+mj-lt"/>
              </a:rPr>
              <a:t> through automated help desk and information services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+mj-lt"/>
              </a:rPr>
              <a:t>Scalable </a:t>
            </a:r>
            <a:r>
              <a:rPr lang="en-US" altLang="en-US" sz="1600" b="1" dirty="0">
                <a:latin typeface="+mj-lt"/>
              </a:rPr>
              <a:t>smart campus solution</a:t>
            </a:r>
            <a:r>
              <a:rPr lang="en-US" altLang="en-US" sz="1600" dirty="0">
                <a:latin typeface="+mj-lt"/>
              </a:rPr>
              <a:t> that can support future system enhancements and integrations.</a:t>
            </a:r>
          </a:p>
        </p:txBody>
      </p:sp>
    </p:spTree>
    <p:extLst>
      <p:ext uri="{BB962C8B-B14F-4D97-AF65-F5344CB8AC3E}">
        <p14:creationId xmlns:p14="http://schemas.microsoft.com/office/powerpoint/2010/main" val="2562604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6764</TotalTime>
  <Words>1496</Words>
  <Application>Microsoft Office PowerPoint</Application>
  <PresentationFormat>On-screen Show (4:3)</PresentationFormat>
  <Paragraphs>211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Cambria</vt:lpstr>
      <vt:lpstr>Garamond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Siddhant KS</cp:lastModifiedBy>
  <cp:revision>312</cp:revision>
  <cp:lastPrinted>2022-09-05T08:43:44Z</cp:lastPrinted>
  <dcterms:created xsi:type="dcterms:W3CDTF">2020-01-16T09:05:56Z</dcterms:created>
  <dcterms:modified xsi:type="dcterms:W3CDTF">2026-03-09T07:10:36Z</dcterms:modified>
</cp:coreProperties>
</file>